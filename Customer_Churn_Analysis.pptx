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2"/>
    <p:sldId id="262" r:id="rId3"/>
    <p:sldId id="258" r:id="rId4"/>
    <p:sldId id="259" r:id="rId5"/>
    <p:sldId id="260" r:id="rId6"/>
    <p:sldId id="261" r:id="rId7"/>
    <p:sldId id="263" r:id="rId8"/>
    <p:sldId id="264" r:id="rId9"/>
    <p:sldId id="265" r:id="rId10"/>
    <p:sldId id="266" r:id="rId11"/>
    <p:sldId id="267"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121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063F56-3DA1-4A33-9D8E-4BC3C28CEFDE}" type="datetimeFigureOut">
              <a:rPr lang="en-IN" smtClean="0"/>
              <a:t>15-12-2025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D4B6AF-AF80-4390-8375-9523F75085F0}" type="slidenum">
              <a:rPr lang="en-IN" smtClean="0"/>
              <a:t>‹#›</a:t>
            </a:fld>
            <a:endParaRPr lang="en-IN"/>
          </a:p>
        </p:txBody>
      </p:sp>
    </p:spTree>
    <p:extLst>
      <p:ext uri="{BB962C8B-B14F-4D97-AF65-F5344CB8AC3E}">
        <p14:creationId xmlns:p14="http://schemas.microsoft.com/office/powerpoint/2010/main" val="3761136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DD4B6AF-AF80-4390-8375-9523F75085F0}" type="slidenum">
              <a:rPr lang="en-IN" smtClean="0"/>
              <a:t>10</a:t>
            </a:fld>
            <a:endParaRPr lang="en-IN"/>
          </a:p>
        </p:txBody>
      </p:sp>
    </p:spTree>
    <p:extLst>
      <p:ext uri="{BB962C8B-B14F-4D97-AF65-F5344CB8AC3E}">
        <p14:creationId xmlns:p14="http://schemas.microsoft.com/office/powerpoint/2010/main" val="3436859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3903"/>
            <a:ext cx="8229600" cy="1143000"/>
          </a:xfrm>
        </p:spPr>
        <p:txBody>
          <a:bodyPr>
            <a:normAutofit/>
          </a:bodyPr>
          <a:lstStyle/>
          <a:p>
            <a:r>
              <a:rPr lang="en-US" sz="5400" b="1" dirty="0"/>
              <a:t>Customer Churn Analysis</a:t>
            </a:r>
            <a:endParaRPr sz="5400" b="1" dirty="0"/>
          </a:p>
        </p:txBody>
      </p:sp>
      <p:sp>
        <p:nvSpPr>
          <p:cNvPr id="3" name="Content Placeholder 2"/>
          <p:cNvSpPr>
            <a:spLocks noGrp="1"/>
          </p:cNvSpPr>
          <p:nvPr>
            <p:ph idx="1"/>
          </p:nvPr>
        </p:nvSpPr>
        <p:spPr>
          <a:xfrm>
            <a:off x="4936923" y="5976108"/>
            <a:ext cx="3825378" cy="444617"/>
          </a:xfrm>
        </p:spPr>
        <p:txBody>
          <a:bodyPr>
            <a:normAutofit fontScale="92500"/>
          </a:bodyPr>
          <a:lstStyle/>
          <a:p>
            <a:pPr marL="0" indent="0">
              <a:buNone/>
            </a:pPr>
            <a:r>
              <a:rPr lang="en-US" sz="2400" b="1" dirty="0"/>
              <a:t>Presented By : Srikant Behera</a:t>
            </a:r>
            <a:endParaRPr sz="2400" b="1" dirty="0"/>
          </a:p>
        </p:txBody>
      </p:sp>
      <p:sp>
        <p:nvSpPr>
          <p:cNvPr id="4" name="Rectangle 3">
            <a:extLst>
              <a:ext uri="{FF2B5EF4-FFF2-40B4-BE49-F238E27FC236}">
                <a16:creationId xmlns:a16="http://schemas.microsoft.com/office/drawing/2014/main" id="{A6BE9011-7C00-FF88-C101-266A4CBA6296}"/>
              </a:ext>
            </a:extLst>
          </p:cNvPr>
          <p:cNvSpPr/>
          <p:nvPr/>
        </p:nvSpPr>
        <p:spPr>
          <a:xfrm>
            <a:off x="276837" y="230697"/>
            <a:ext cx="8581937" cy="6396606"/>
          </a:xfrm>
          <a:prstGeom prst="rect">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5028" y="280877"/>
            <a:ext cx="3888297" cy="478071"/>
          </a:xfrm>
        </p:spPr>
        <p:txBody>
          <a:bodyPr>
            <a:normAutofit fontScale="90000"/>
          </a:bodyPr>
          <a:lstStyle/>
          <a:p>
            <a:r>
              <a:rPr lang="en-IN" sz="2000" b="1" dirty="0"/>
              <a:t>Dataset Overview &amp; Key Observations</a:t>
            </a:r>
            <a:endParaRPr sz="2000" b="1" dirty="0"/>
          </a:p>
        </p:txBody>
      </p:sp>
      <p:sp>
        <p:nvSpPr>
          <p:cNvPr id="3" name="TextBox 2">
            <a:extLst>
              <a:ext uri="{FF2B5EF4-FFF2-40B4-BE49-F238E27FC236}">
                <a16:creationId xmlns:a16="http://schemas.microsoft.com/office/drawing/2014/main" id="{3544518F-EAB5-5C42-44A0-40A81AF4965B}"/>
              </a:ext>
            </a:extLst>
          </p:cNvPr>
          <p:cNvSpPr txBox="1"/>
          <p:nvPr/>
        </p:nvSpPr>
        <p:spPr>
          <a:xfrm>
            <a:off x="394283" y="1015068"/>
            <a:ext cx="8456102" cy="2862322"/>
          </a:xfrm>
          <a:prstGeom prst="rect">
            <a:avLst/>
          </a:prstGeom>
          <a:noFill/>
        </p:spPr>
        <p:txBody>
          <a:bodyPr wrap="square" rtlCol="0">
            <a:spAutoFit/>
          </a:bodyPr>
          <a:lstStyle/>
          <a:p>
            <a:pPr marL="285750" indent="-285750">
              <a:buFont typeface="Wingdings" panose="05000000000000000000" pitchFamily="2" charset="2"/>
              <a:buChar char="§"/>
            </a:pPr>
            <a:r>
              <a:rPr lang="en-US" dirty="0"/>
              <a:t>The dataset contains customer orders, delivery timelines, product details, and churn status.</a:t>
            </a:r>
          </a:p>
          <a:p>
            <a:pPr marL="285750" indent="-285750">
              <a:buFont typeface="Wingdings" panose="05000000000000000000" pitchFamily="2" charset="2"/>
              <a:buChar char="§"/>
            </a:pPr>
            <a:r>
              <a:rPr lang="en-US" dirty="0"/>
              <a:t>Includes ~100k orders across multiple states.</a:t>
            </a:r>
          </a:p>
          <a:p>
            <a:pPr marL="285750" indent="-285750">
              <a:buFont typeface="Wingdings" panose="05000000000000000000" pitchFamily="2" charset="2"/>
              <a:buChar char="§"/>
            </a:pPr>
            <a:r>
              <a:rPr lang="en-US" dirty="0"/>
              <a:t>Key features used: delivery delay, freight value, product price, customer location.</a:t>
            </a:r>
          </a:p>
          <a:p>
            <a:pPr marL="285750" indent="-285750">
              <a:buFont typeface="Wingdings" panose="05000000000000000000" pitchFamily="2" charset="2"/>
              <a:buChar char="§"/>
            </a:pPr>
            <a:r>
              <a:rPr lang="en-US" dirty="0"/>
              <a:t>Initial checks show many late deliveries and high shipping ratios for low-value items.</a:t>
            </a:r>
          </a:p>
          <a:p>
            <a:pPr marL="285750" indent="-285750">
              <a:buFont typeface="Wingdings" panose="05000000000000000000" pitchFamily="2" charset="2"/>
              <a:buChar char="§"/>
            </a:pPr>
            <a:r>
              <a:rPr lang="en-US" dirty="0"/>
              <a:t>Churn labels are clearly defined, enabling accurate churn analysis.</a:t>
            </a:r>
          </a:p>
          <a:p>
            <a:pPr marL="285750" indent="-285750">
              <a:buFont typeface="Wingdings" panose="05000000000000000000" pitchFamily="2" charset="2"/>
              <a:buChar char="§"/>
            </a:pPr>
            <a:r>
              <a:rPr lang="en-US" dirty="0"/>
              <a:t>Delivery performance varies heavily by state.</a:t>
            </a:r>
          </a:p>
          <a:p>
            <a:pPr marL="285750" indent="-285750">
              <a:buFont typeface="Wingdings" panose="05000000000000000000" pitchFamily="2" charset="2"/>
              <a:buChar char="§"/>
            </a:pPr>
            <a:r>
              <a:rPr lang="en-US" dirty="0"/>
              <a:t>Several extreme delivery delays (outliers) were identified.</a:t>
            </a:r>
          </a:p>
          <a:p>
            <a:pPr marL="285750" indent="-285750">
              <a:buFont typeface="Wingdings" panose="05000000000000000000" pitchFamily="2" charset="2"/>
              <a:buChar char="§"/>
            </a:pPr>
            <a:r>
              <a:rPr lang="en-US" dirty="0"/>
              <a:t>Freight cost is inconsistent, especially for low-value items.</a:t>
            </a:r>
          </a:p>
          <a:p>
            <a:pPr marL="285750" indent="-285750">
              <a:buFont typeface="Wingdings" panose="05000000000000000000" pitchFamily="2" charset="2"/>
              <a:buChar char="§"/>
            </a:pPr>
            <a:endParaRPr lang="en-IN" dirty="0"/>
          </a:p>
        </p:txBody>
      </p:sp>
      <p:sp>
        <p:nvSpPr>
          <p:cNvPr id="4" name="Rectangle 3">
            <a:extLst>
              <a:ext uri="{FF2B5EF4-FFF2-40B4-BE49-F238E27FC236}">
                <a16:creationId xmlns:a16="http://schemas.microsoft.com/office/drawing/2014/main" id="{2D77E595-E1A5-BBE2-FF9D-8A20CF710BA2}"/>
              </a:ext>
            </a:extLst>
          </p:cNvPr>
          <p:cNvSpPr/>
          <p:nvPr/>
        </p:nvSpPr>
        <p:spPr>
          <a:xfrm>
            <a:off x="234892" y="218114"/>
            <a:ext cx="8615493" cy="6425967"/>
          </a:xfrm>
          <a:prstGeom prst="rect">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6756" y="231993"/>
            <a:ext cx="3217178" cy="410959"/>
          </a:xfrm>
        </p:spPr>
        <p:txBody>
          <a:bodyPr>
            <a:normAutofit/>
          </a:bodyPr>
          <a:lstStyle/>
          <a:p>
            <a:r>
              <a:rPr lang="en-IN" sz="1800" b="1" dirty="0"/>
              <a:t>Monthly Sales Trend (Revenue)</a:t>
            </a:r>
            <a:endParaRPr sz="1800" b="1" dirty="0"/>
          </a:p>
        </p:txBody>
      </p:sp>
      <p:sp>
        <p:nvSpPr>
          <p:cNvPr id="7" name="TextBox 6">
            <a:extLst>
              <a:ext uri="{FF2B5EF4-FFF2-40B4-BE49-F238E27FC236}">
                <a16:creationId xmlns:a16="http://schemas.microsoft.com/office/drawing/2014/main" id="{E48354A2-96D7-94E7-741B-A9D88FAC41B5}"/>
              </a:ext>
            </a:extLst>
          </p:cNvPr>
          <p:cNvSpPr txBox="1"/>
          <p:nvPr/>
        </p:nvSpPr>
        <p:spPr>
          <a:xfrm>
            <a:off x="427836" y="642952"/>
            <a:ext cx="8263157" cy="1477328"/>
          </a:xfrm>
          <a:prstGeom prst="rect">
            <a:avLst/>
          </a:prstGeom>
          <a:noFill/>
        </p:spPr>
        <p:txBody>
          <a:bodyPr wrap="square" rtlCol="0">
            <a:spAutoFit/>
          </a:bodyPr>
          <a:lstStyle/>
          <a:p>
            <a:pPr marL="285750" indent="-285750">
              <a:buFont typeface="Wingdings" panose="05000000000000000000" pitchFamily="2" charset="2"/>
              <a:buChar char="§"/>
            </a:pPr>
            <a:r>
              <a:rPr lang="en-US" dirty="0"/>
              <a:t>The sales trend shows strong month-over-month growth with a major revenue spike during seasonal events such as Black Friday or holiday sales etc. To leverage this momentum, the business should invest in seasonal promotions, improve demand forecasting, optimize inventory and strengthen customer retention strategies. </a:t>
            </a:r>
            <a:endParaRPr lang="en-IN" dirty="0"/>
          </a:p>
        </p:txBody>
      </p:sp>
      <p:pic>
        <p:nvPicPr>
          <p:cNvPr id="4" name="Picture 3">
            <a:extLst>
              <a:ext uri="{FF2B5EF4-FFF2-40B4-BE49-F238E27FC236}">
                <a16:creationId xmlns:a16="http://schemas.microsoft.com/office/drawing/2014/main" id="{95FF3B3F-CD7C-4D78-86E3-ECD7DB7D271B}"/>
              </a:ext>
            </a:extLst>
          </p:cNvPr>
          <p:cNvPicPr>
            <a:picLocks noChangeAspect="1"/>
          </p:cNvPicPr>
          <p:nvPr/>
        </p:nvPicPr>
        <p:blipFill>
          <a:blip r:embed="rId2"/>
          <a:stretch>
            <a:fillRect/>
          </a:stretch>
        </p:blipFill>
        <p:spPr>
          <a:xfrm>
            <a:off x="448811" y="2214694"/>
            <a:ext cx="8263156" cy="4211273"/>
          </a:xfrm>
          <a:prstGeom prst="rect">
            <a:avLst/>
          </a:prstGeom>
        </p:spPr>
      </p:pic>
      <p:sp>
        <p:nvSpPr>
          <p:cNvPr id="5" name="Rectangle 4">
            <a:extLst>
              <a:ext uri="{FF2B5EF4-FFF2-40B4-BE49-F238E27FC236}">
                <a16:creationId xmlns:a16="http://schemas.microsoft.com/office/drawing/2014/main" id="{CAEDE051-8E55-89A4-CF91-2AC16EA147EC}"/>
              </a:ext>
            </a:extLst>
          </p:cNvPr>
          <p:cNvSpPr/>
          <p:nvPr/>
        </p:nvSpPr>
        <p:spPr>
          <a:xfrm>
            <a:off x="260059" y="226503"/>
            <a:ext cx="8607104" cy="6392411"/>
          </a:xfrm>
          <a:prstGeom prst="rect">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1648" y="345878"/>
            <a:ext cx="2843868" cy="396481"/>
          </a:xfrm>
        </p:spPr>
        <p:txBody>
          <a:bodyPr>
            <a:noAutofit/>
          </a:bodyPr>
          <a:lstStyle/>
          <a:p>
            <a:r>
              <a:rPr lang="en-IN" sz="1800" b="1" dirty="0"/>
              <a:t>On-Time vs. Late Deliveries</a:t>
            </a:r>
            <a:endParaRPr sz="1800" b="1" dirty="0"/>
          </a:p>
        </p:txBody>
      </p:sp>
      <p:pic>
        <p:nvPicPr>
          <p:cNvPr id="5" name="Content Placeholder 4">
            <a:extLst>
              <a:ext uri="{FF2B5EF4-FFF2-40B4-BE49-F238E27FC236}">
                <a16:creationId xmlns:a16="http://schemas.microsoft.com/office/drawing/2014/main" id="{C4F7A4E4-F784-2E75-B9E3-FD86A753B648}"/>
              </a:ext>
            </a:extLst>
          </p:cNvPr>
          <p:cNvPicPr>
            <a:picLocks noGrp="1" noChangeAspect="1"/>
          </p:cNvPicPr>
          <p:nvPr>
            <p:ph idx="1"/>
          </p:nvPr>
        </p:nvPicPr>
        <p:blipFill>
          <a:blip r:embed="rId2"/>
          <a:stretch>
            <a:fillRect/>
          </a:stretch>
        </p:blipFill>
        <p:spPr>
          <a:xfrm>
            <a:off x="461394" y="1853967"/>
            <a:ext cx="8290420" cy="4521665"/>
          </a:xfrm>
        </p:spPr>
      </p:pic>
      <p:sp>
        <p:nvSpPr>
          <p:cNvPr id="6" name="TextBox 5">
            <a:extLst>
              <a:ext uri="{FF2B5EF4-FFF2-40B4-BE49-F238E27FC236}">
                <a16:creationId xmlns:a16="http://schemas.microsoft.com/office/drawing/2014/main" id="{52E4EC59-C152-188C-E1DF-B3A7485EAFA1}"/>
              </a:ext>
            </a:extLst>
          </p:cNvPr>
          <p:cNvSpPr txBox="1"/>
          <p:nvPr/>
        </p:nvSpPr>
        <p:spPr>
          <a:xfrm>
            <a:off x="461394" y="736777"/>
            <a:ext cx="8290419" cy="923330"/>
          </a:xfrm>
          <a:prstGeom prst="rect">
            <a:avLst/>
          </a:prstGeom>
          <a:noFill/>
        </p:spPr>
        <p:txBody>
          <a:bodyPr wrap="square" rtlCol="0">
            <a:spAutoFit/>
          </a:bodyPr>
          <a:lstStyle/>
          <a:p>
            <a:pPr marL="285750" indent="-285750">
              <a:buFont typeface="Wingdings" panose="05000000000000000000" pitchFamily="2" charset="2"/>
              <a:buChar char="§"/>
            </a:pPr>
            <a:r>
              <a:rPr lang="en-US" dirty="0"/>
              <a:t>With 8% late deliveries impacting nearly 8k customers per 100k orders, give an apology message to customers, provide accurate and realistic delivery dates, and build a more reliable logistics network.</a:t>
            </a:r>
            <a:endParaRPr lang="en-IN" dirty="0"/>
          </a:p>
        </p:txBody>
      </p:sp>
      <p:sp>
        <p:nvSpPr>
          <p:cNvPr id="3" name="Rectangle 2">
            <a:extLst>
              <a:ext uri="{FF2B5EF4-FFF2-40B4-BE49-F238E27FC236}">
                <a16:creationId xmlns:a16="http://schemas.microsoft.com/office/drawing/2014/main" id="{4352D08C-7F6F-6A82-67E8-03D1BB5AE3DE}"/>
              </a:ext>
            </a:extLst>
          </p:cNvPr>
          <p:cNvSpPr/>
          <p:nvPr/>
        </p:nvSpPr>
        <p:spPr>
          <a:xfrm>
            <a:off x="260059" y="243281"/>
            <a:ext cx="8632271" cy="6358855"/>
          </a:xfrm>
          <a:prstGeom prst="rect">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4417" y="362824"/>
            <a:ext cx="3863130" cy="430037"/>
          </a:xfrm>
        </p:spPr>
        <p:txBody>
          <a:bodyPr>
            <a:noAutofit/>
          </a:bodyPr>
          <a:lstStyle/>
          <a:p>
            <a:r>
              <a:rPr lang="en-US" sz="1800" b="1" dirty="0"/>
              <a:t>Top 10 Product Categories by Revenue</a:t>
            </a:r>
            <a:endParaRPr sz="1800" b="1" dirty="0"/>
          </a:p>
        </p:txBody>
      </p:sp>
      <p:sp>
        <p:nvSpPr>
          <p:cNvPr id="5" name="TextBox 4">
            <a:extLst>
              <a:ext uri="{FF2B5EF4-FFF2-40B4-BE49-F238E27FC236}">
                <a16:creationId xmlns:a16="http://schemas.microsoft.com/office/drawing/2014/main" id="{8ED2BBAA-18CC-BD4B-D541-43E364E1614B}"/>
              </a:ext>
            </a:extLst>
          </p:cNvPr>
          <p:cNvSpPr txBox="1"/>
          <p:nvPr/>
        </p:nvSpPr>
        <p:spPr>
          <a:xfrm>
            <a:off x="260058" y="807892"/>
            <a:ext cx="8506436" cy="1200329"/>
          </a:xfrm>
          <a:prstGeom prst="rect">
            <a:avLst/>
          </a:prstGeom>
          <a:noFill/>
        </p:spPr>
        <p:txBody>
          <a:bodyPr wrap="square" rtlCol="0">
            <a:spAutoFit/>
          </a:bodyPr>
          <a:lstStyle/>
          <a:p>
            <a:pPr marL="285750" indent="-285750">
              <a:buFont typeface="Wingdings" panose="05000000000000000000" pitchFamily="2" charset="2"/>
              <a:buChar char="§"/>
            </a:pPr>
            <a:r>
              <a:rPr lang="en-US" dirty="0"/>
              <a:t>The top-performing categories provide a strong opportunity for targeted marketing, efficient inventory planning, and customer-focused promotions. By strengthening supplier partnerships and investing in high-demand categories, the business can significantly increase total revenue and maintain long-term customer loyalty.</a:t>
            </a:r>
            <a:endParaRPr lang="en-IN" dirty="0"/>
          </a:p>
        </p:txBody>
      </p:sp>
      <p:pic>
        <p:nvPicPr>
          <p:cNvPr id="8" name="Picture 7">
            <a:extLst>
              <a:ext uri="{FF2B5EF4-FFF2-40B4-BE49-F238E27FC236}">
                <a16:creationId xmlns:a16="http://schemas.microsoft.com/office/drawing/2014/main" id="{3EC5E6FA-6363-2F63-7DC1-DABB42F5AF64}"/>
              </a:ext>
            </a:extLst>
          </p:cNvPr>
          <p:cNvPicPr>
            <a:picLocks noChangeAspect="1"/>
          </p:cNvPicPr>
          <p:nvPr/>
        </p:nvPicPr>
        <p:blipFill>
          <a:blip r:embed="rId2"/>
          <a:stretch>
            <a:fillRect/>
          </a:stretch>
        </p:blipFill>
        <p:spPr>
          <a:xfrm>
            <a:off x="604007" y="2097248"/>
            <a:ext cx="7994709" cy="4397928"/>
          </a:xfrm>
          <a:prstGeom prst="rect">
            <a:avLst/>
          </a:prstGeom>
        </p:spPr>
      </p:pic>
      <p:sp>
        <p:nvSpPr>
          <p:cNvPr id="9" name="Rectangle 8">
            <a:extLst>
              <a:ext uri="{FF2B5EF4-FFF2-40B4-BE49-F238E27FC236}">
                <a16:creationId xmlns:a16="http://schemas.microsoft.com/office/drawing/2014/main" id="{6E538BF6-41C8-B104-D248-E4DB28DFBB30}"/>
              </a:ext>
            </a:extLst>
          </p:cNvPr>
          <p:cNvSpPr/>
          <p:nvPr/>
        </p:nvSpPr>
        <p:spPr>
          <a:xfrm>
            <a:off x="260058" y="251670"/>
            <a:ext cx="8623884" cy="6358855"/>
          </a:xfrm>
          <a:prstGeom prst="rect">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5483" y="272693"/>
            <a:ext cx="4551028" cy="419348"/>
          </a:xfrm>
        </p:spPr>
        <p:txBody>
          <a:bodyPr>
            <a:normAutofit/>
          </a:bodyPr>
          <a:lstStyle/>
          <a:p>
            <a:r>
              <a:rPr lang="en-US" sz="1800" b="1" dirty="0"/>
              <a:t>Impact of Delivery Delays on Customer Churn</a:t>
            </a:r>
            <a:endParaRPr sz="1800" b="1" dirty="0"/>
          </a:p>
        </p:txBody>
      </p:sp>
      <p:pic>
        <p:nvPicPr>
          <p:cNvPr id="5" name="Content Placeholder 4">
            <a:extLst>
              <a:ext uri="{FF2B5EF4-FFF2-40B4-BE49-F238E27FC236}">
                <a16:creationId xmlns:a16="http://schemas.microsoft.com/office/drawing/2014/main" id="{B216C559-A9E7-8F69-7E14-A507E1E39271}"/>
              </a:ext>
            </a:extLst>
          </p:cNvPr>
          <p:cNvPicPr>
            <a:picLocks noGrp="1" noChangeAspect="1"/>
          </p:cNvPicPr>
          <p:nvPr>
            <p:ph idx="1"/>
          </p:nvPr>
        </p:nvPicPr>
        <p:blipFill>
          <a:blip r:embed="rId2"/>
          <a:stretch>
            <a:fillRect/>
          </a:stretch>
        </p:blipFill>
        <p:spPr>
          <a:xfrm>
            <a:off x="494949" y="2197916"/>
            <a:ext cx="8162489" cy="4177717"/>
          </a:xfrm>
        </p:spPr>
      </p:pic>
      <p:sp>
        <p:nvSpPr>
          <p:cNvPr id="6" name="TextBox 5">
            <a:extLst>
              <a:ext uri="{FF2B5EF4-FFF2-40B4-BE49-F238E27FC236}">
                <a16:creationId xmlns:a16="http://schemas.microsoft.com/office/drawing/2014/main" id="{7F7D3E42-4AFF-18E5-CCA0-759D181ADDF6}"/>
              </a:ext>
            </a:extLst>
          </p:cNvPr>
          <p:cNvSpPr txBox="1"/>
          <p:nvPr/>
        </p:nvSpPr>
        <p:spPr>
          <a:xfrm>
            <a:off x="419449" y="654139"/>
            <a:ext cx="8237990" cy="1477328"/>
          </a:xfrm>
          <a:prstGeom prst="rect">
            <a:avLst/>
          </a:prstGeom>
          <a:noFill/>
        </p:spPr>
        <p:txBody>
          <a:bodyPr wrap="square" rtlCol="0">
            <a:spAutoFit/>
          </a:bodyPr>
          <a:lstStyle/>
          <a:p>
            <a:pPr marL="285750" indent="-285750">
              <a:buFont typeface="Wingdings" panose="05000000000000000000" pitchFamily="2" charset="2"/>
              <a:buChar char="§"/>
            </a:pPr>
            <a:r>
              <a:rPr lang="en-US" dirty="0"/>
              <a:t>When deliveries are delayed by more than 5 days, </a:t>
            </a:r>
            <a:r>
              <a:rPr lang="en-US" dirty="0" err="1"/>
              <a:t>Olist</a:t>
            </a:r>
            <a:r>
              <a:rPr lang="en-US" dirty="0"/>
              <a:t> risks losing long-term customer relationships. By improving logistics speed, enhancing seller performance, using predictive delivery models, and establishing customer recovery programs, </a:t>
            </a:r>
            <a:r>
              <a:rPr lang="en-US" dirty="0" err="1"/>
              <a:t>Olist</a:t>
            </a:r>
            <a:r>
              <a:rPr lang="en-US" dirty="0"/>
              <a:t> can protect customer loyalty and strengthen its position in the market.</a:t>
            </a:r>
            <a:endParaRPr lang="en-IN" dirty="0"/>
          </a:p>
        </p:txBody>
      </p:sp>
      <p:sp>
        <p:nvSpPr>
          <p:cNvPr id="3" name="Rectangle 2">
            <a:extLst>
              <a:ext uri="{FF2B5EF4-FFF2-40B4-BE49-F238E27FC236}">
                <a16:creationId xmlns:a16="http://schemas.microsoft.com/office/drawing/2014/main" id="{34DB62B5-5340-4D99-BDF1-5926F8F726FC}"/>
              </a:ext>
            </a:extLst>
          </p:cNvPr>
          <p:cNvSpPr/>
          <p:nvPr/>
        </p:nvSpPr>
        <p:spPr>
          <a:xfrm>
            <a:off x="251670" y="243079"/>
            <a:ext cx="8615493" cy="6359057"/>
          </a:xfrm>
          <a:prstGeom prst="rect">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5636" y="319171"/>
            <a:ext cx="4483916" cy="402570"/>
          </a:xfrm>
        </p:spPr>
        <p:txBody>
          <a:bodyPr>
            <a:normAutofit/>
          </a:bodyPr>
          <a:lstStyle/>
          <a:p>
            <a:r>
              <a:rPr lang="en-US" sz="1800" b="1" dirty="0"/>
              <a:t>Freight Cost Sensitivity: Churned vs Retained</a:t>
            </a:r>
            <a:endParaRPr sz="1800" b="1" dirty="0"/>
          </a:p>
        </p:txBody>
      </p:sp>
      <p:pic>
        <p:nvPicPr>
          <p:cNvPr id="5" name="Content Placeholder 4">
            <a:extLst>
              <a:ext uri="{FF2B5EF4-FFF2-40B4-BE49-F238E27FC236}">
                <a16:creationId xmlns:a16="http://schemas.microsoft.com/office/drawing/2014/main" id="{BB17B042-3CF1-BB99-9939-7D1DE2B15D63}"/>
              </a:ext>
            </a:extLst>
          </p:cNvPr>
          <p:cNvPicPr>
            <a:picLocks noGrp="1" noChangeAspect="1"/>
          </p:cNvPicPr>
          <p:nvPr>
            <p:ph idx="1"/>
          </p:nvPr>
        </p:nvPicPr>
        <p:blipFill>
          <a:blip r:embed="rId2"/>
          <a:stretch>
            <a:fillRect/>
          </a:stretch>
        </p:blipFill>
        <p:spPr>
          <a:xfrm>
            <a:off x="453005" y="1736521"/>
            <a:ext cx="8204435" cy="4672668"/>
          </a:xfrm>
        </p:spPr>
      </p:pic>
      <p:sp>
        <p:nvSpPr>
          <p:cNvPr id="3" name="TextBox 2">
            <a:extLst>
              <a:ext uri="{FF2B5EF4-FFF2-40B4-BE49-F238E27FC236}">
                <a16:creationId xmlns:a16="http://schemas.microsoft.com/office/drawing/2014/main" id="{79FC084E-EBA2-64B6-109E-0D3107819149}"/>
              </a:ext>
            </a:extLst>
          </p:cNvPr>
          <p:cNvSpPr txBox="1"/>
          <p:nvPr/>
        </p:nvSpPr>
        <p:spPr>
          <a:xfrm>
            <a:off x="385894" y="759517"/>
            <a:ext cx="8271546" cy="923330"/>
          </a:xfrm>
          <a:prstGeom prst="rect">
            <a:avLst/>
          </a:prstGeom>
          <a:noFill/>
        </p:spPr>
        <p:txBody>
          <a:bodyPr wrap="square" rtlCol="0">
            <a:spAutoFit/>
          </a:bodyPr>
          <a:lstStyle/>
          <a:p>
            <a:pPr marL="285750" indent="-285750">
              <a:buFont typeface="Wingdings" panose="05000000000000000000" pitchFamily="2" charset="2"/>
              <a:buChar char="§"/>
            </a:pPr>
            <a:r>
              <a:rPr lang="en-US" dirty="0"/>
              <a:t>When a customer buys a cheap product but pays high shipping, they feel the deal is unfair. To fix this, you should try to get cheaper delivery rates for small items or ask customers to buy a minimum amount to get free or low-cost shipping.</a:t>
            </a:r>
          </a:p>
        </p:txBody>
      </p:sp>
      <p:sp>
        <p:nvSpPr>
          <p:cNvPr id="4" name="Rectangle 3">
            <a:extLst>
              <a:ext uri="{FF2B5EF4-FFF2-40B4-BE49-F238E27FC236}">
                <a16:creationId xmlns:a16="http://schemas.microsoft.com/office/drawing/2014/main" id="{11AC1D51-83CF-0E72-47F2-6BBEAC93C63A}"/>
              </a:ext>
            </a:extLst>
          </p:cNvPr>
          <p:cNvSpPr/>
          <p:nvPr/>
        </p:nvSpPr>
        <p:spPr>
          <a:xfrm>
            <a:off x="251670" y="260059"/>
            <a:ext cx="8615493" cy="6367244"/>
          </a:xfrm>
          <a:prstGeom prst="rect">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7213" y="229486"/>
            <a:ext cx="3846352" cy="404769"/>
          </a:xfrm>
        </p:spPr>
        <p:txBody>
          <a:bodyPr>
            <a:normAutofit/>
          </a:bodyPr>
          <a:lstStyle/>
          <a:p>
            <a:r>
              <a:rPr lang="en-US" sz="1800" b="1" dirty="0"/>
              <a:t>Churn Rate vs Delivery Delay by State</a:t>
            </a:r>
            <a:endParaRPr sz="1800" b="1" dirty="0"/>
          </a:p>
        </p:txBody>
      </p:sp>
      <p:pic>
        <p:nvPicPr>
          <p:cNvPr id="4" name="Picture 3">
            <a:extLst>
              <a:ext uri="{FF2B5EF4-FFF2-40B4-BE49-F238E27FC236}">
                <a16:creationId xmlns:a16="http://schemas.microsoft.com/office/drawing/2014/main" id="{C368CDFA-23CE-ACDF-BC5F-90CCBFB4207F}"/>
              </a:ext>
            </a:extLst>
          </p:cNvPr>
          <p:cNvPicPr>
            <a:picLocks noChangeAspect="1"/>
          </p:cNvPicPr>
          <p:nvPr/>
        </p:nvPicPr>
        <p:blipFill>
          <a:blip r:embed="rId2"/>
          <a:stretch>
            <a:fillRect/>
          </a:stretch>
        </p:blipFill>
        <p:spPr>
          <a:xfrm>
            <a:off x="461394" y="2273417"/>
            <a:ext cx="8263156" cy="4118994"/>
          </a:xfrm>
          <a:prstGeom prst="rect">
            <a:avLst/>
          </a:prstGeom>
          <a:ln>
            <a:solidFill>
              <a:schemeClr val="accent1"/>
            </a:solidFill>
          </a:ln>
        </p:spPr>
      </p:pic>
      <p:sp>
        <p:nvSpPr>
          <p:cNvPr id="3" name="TextBox 2">
            <a:extLst>
              <a:ext uri="{FF2B5EF4-FFF2-40B4-BE49-F238E27FC236}">
                <a16:creationId xmlns:a16="http://schemas.microsoft.com/office/drawing/2014/main" id="{F80244A4-6210-8883-CDB9-AA499D57E3D2}"/>
              </a:ext>
            </a:extLst>
          </p:cNvPr>
          <p:cNvSpPr txBox="1"/>
          <p:nvPr/>
        </p:nvSpPr>
        <p:spPr>
          <a:xfrm>
            <a:off x="461394" y="676038"/>
            <a:ext cx="8347046" cy="1477328"/>
          </a:xfrm>
          <a:prstGeom prst="rect">
            <a:avLst/>
          </a:prstGeom>
          <a:noFill/>
        </p:spPr>
        <p:txBody>
          <a:bodyPr wrap="square" rtlCol="0">
            <a:spAutoFit/>
          </a:bodyPr>
          <a:lstStyle/>
          <a:p>
            <a:pPr marL="285750" indent="-285750">
              <a:buFont typeface="Wingdings" panose="05000000000000000000" pitchFamily="2" charset="2"/>
              <a:buChar char="§"/>
            </a:pPr>
            <a:r>
              <a:rPr lang="en-US" dirty="0"/>
              <a:t>Some regions get much worse delivery service. Because of this, we are losing customers in the North and Northeast since our delivery partners there are not doing a good job. Stop marketing in states where delivery takes more than 5 extra days until we fix logistics. Otherwise, we spend money to get customers who will not come back.</a:t>
            </a:r>
            <a:endParaRPr lang="en-IN" dirty="0"/>
          </a:p>
        </p:txBody>
      </p:sp>
      <p:sp>
        <p:nvSpPr>
          <p:cNvPr id="5" name="Rectangle 4">
            <a:extLst>
              <a:ext uri="{FF2B5EF4-FFF2-40B4-BE49-F238E27FC236}">
                <a16:creationId xmlns:a16="http://schemas.microsoft.com/office/drawing/2014/main" id="{56632AD6-683D-6951-0327-7215D52AE3C8}"/>
              </a:ext>
            </a:extLst>
          </p:cNvPr>
          <p:cNvSpPr/>
          <p:nvPr/>
        </p:nvSpPr>
        <p:spPr>
          <a:xfrm>
            <a:off x="209725" y="187703"/>
            <a:ext cx="8724550" cy="6482594"/>
          </a:xfrm>
          <a:prstGeom prst="rect">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7764" y="327169"/>
            <a:ext cx="4819475" cy="430037"/>
          </a:xfrm>
        </p:spPr>
        <p:txBody>
          <a:bodyPr>
            <a:normAutofit/>
          </a:bodyPr>
          <a:lstStyle/>
          <a:p>
            <a:r>
              <a:rPr lang="en-US" sz="1800" b="1" dirty="0"/>
              <a:t>Distribution of Churned vs. Retained Customers</a:t>
            </a:r>
            <a:endParaRPr sz="1800" b="1" dirty="0"/>
          </a:p>
        </p:txBody>
      </p:sp>
      <p:pic>
        <p:nvPicPr>
          <p:cNvPr id="5" name="Content Placeholder 4">
            <a:extLst>
              <a:ext uri="{FF2B5EF4-FFF2-40B4-BE49-F238E27FC236}">
                <a16:creationId xmlns:a16="http://schemas.microsoft.com/office/drawing/2014/main" id="{3792E1E5-1A6A-CA3E-3CAA-EC5CAF75DBDE}"/>
              </a:ext>
            </a:extLst>
          </p:cNvPr>
          <p:cNvPicPr>
            <a:picLocks noGrp="1" noChangeAspect="1"/>
          </p:cNvPicPr>
          <p:nvPr>
            <p:ph idx="1"/>
          </p:nvPr>
        </p:nvPicPr>
        <p:blipFill>
          <a:blip r:embed="rId2"/>
          <a:stretch>
            <a:fillRect/>
          </a:stretch>
        </p:blipFill>
        <p:spPr>
          <a:xfrm>
            <a:off x="503339" y="2109437"/>
            <a:ext cx="8112154" cy="4393132"/>
          </a:xfrm>
        </p:spPr>
      </p:pic>
      <p:sp>
        <p:nvSpPr>
          <p:cNvPr id="3" name="TextBox 2">
            <a:extLst>
              <a:ext uri="{FF2B5EF4-FFF2-40B4-BE49-F238E27FC236}">
                <a16:creationId xmlns:a16="http://schemas.microsoft.com/office/drawing/2014/main" id="{FEDB37EA-73B5-455C-C9DE-60B173C0E481}"/>
              </a:ext>
            </a:extLst>
          </p:cNvPr>
          <p:cNvSpPr txBox="1"/>
          <p:nvPr/>
        </p:nvSpPr>
        <p:spPr>
          <a:xfrm>
            <a:off x="503338" y="847288"/>
            <a:ext cx="8112155" cy="1200329"/>
          </a:xfrm>
          <a:prstGeom prst="rect">
            <a:avLst/>
          </a:prstGeom>
          <a:noFill/>
        </p:spPr>
        <p:txBody>
          <a:bodyPr wrap="square" rtlCol="0">
            <a:spAutoFit/>
          </a:bodyPr>
          <a:lstStyle/>
          <a:p>
            <a:pPr marL="285750" indent="-285750">
              <a:buFont typeface="Wingdings" panose="05000000000000000000" pitchFamily="2" charset="2"/>
              <a:buChar char="§"/>
            </a:pPr>
            <a:r>
              <a:rPr lang="en-US" dirty="0"/>
              <a:t>Only 29% of customers stay with us, and 71% leave. This means most customers are not coming back, which is a serious retention problem.</a:t>
            </a:r>
            <a:r>
              <a:rPr lang="en-IN" dirty="0"/>
              <a:t> So fix delivery problems first, reduce high shipping costs, improve customer experience. Give </a:t>
            </a:r>
            <a:r>
              <a:rPr lang="en-US" dirty="0"/>
              <a:t>discounts, free shipping, cashback, or “welcome back” coupons.</a:t>
            </a:r>
            <a:endParaRPr lang="en-IN" dirty="0"/>
          </a:p>
        </p:txBody>
      </p:sp>
      <p:sp>
        <p:nvSpPr>
          <p:cNvPr id="4" name="Rectangle 3">
            <a:extLst>
              <a:ext uri="{FF2B5EF4-FFF2-40B4-BE49-F238E27FC236}">
                <a16:creationId xmlns:a16="http://schemas.microsoft.com/office/drawing/2014/main" id="{DDAF5401-BAE6-5EEA-4FC7-4C0F2C5FDDA2}"/>
              </a:ext>
            </a:extLst>
          </p:cNvPr>
          <p:cNvSpPr/>
          <p:nvPr/>
        </p:nvSpPr>
        <p:spPr>
          <a:xfrm>
            <a:off x="276837" y="230698"/>
            <a:ext cx="8590326" cy="6396606"/>
          </a:xfrm>
          <a:prstGeom prst="rect">
            <a:avLst/>
          </a:prstGeom>
          <a:noFill/>
          <a:ln w="28575">
            <a:solidFill>
              <a:schemeClr val="tx1">
                <a:alpha val="9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5596" y="390416"/>
            <a:ext cx="2059497" cy="771686"/>
          </a:xfrm>
        </p:spPr>
        <p:txBody>
          <a:bodyPr>
            <a:normAutofit/>
          </a:bodyPr>
          <a:lstStyle/>
          <a:p>
            <a:r>
              <a:rPr lang="en-US" sz="2800" b="1" dirty="0"/>
              <a:t>Conclusion</a:t>
            </a:r>
            <a:endParaRPr sz="2800" b="1" dirty="0"/>
          </a:p>
        </p:txBody>
      </p:sp>
      <p:sp>
        <p:nvSpPr>
          <p:cNvPr id="3" name="TextBox 2">
            <a:extLst>
              <a:ext uri="{FF2B5EF4-FFF2-40B4-BE49-F238E27FC236}">
                <a16:creationId xmlns:a16="http://schemas.microsoft.com/office/drawing/2014/main" id="{ABCAD43C-2741-1AE4-AF13-2658DD3FCD54}"/>
              </a:ext>
            </a:extLst>
          </p:cNvPr>
          <p:cNvSpPr txBox="1"/>
          <p:nvPr/>
        </p:nvSpPr>
        <p:spPr>
          <a:xfrm>
            <a:off x="654343" y="2705017"/>
            <a:ext cx="7633982" cy="1477328"/>
          </a:xfrm>
          <a:prstGeom prst="rect">
            <a:avLst/>
          </a:prstGeom>
          <a:noFill/>
        </p:spPr>
        <p:txBody>
          <a:bodyPr wrap="square" rtlCol="0">
            <a:spAutoFit/>
          </a:bodyPr>
          <a:lstStyle/>
          <a:p>
            <a:pPr marL="285750" indent="-285750">
              <a:buFont typeface="Wingdings" panose="05000000000000000000" pitchFamily="2" charset="2"/>
              <a:buChar char="§"/>
            </a:pPr>
            <a:r>
              <a:rPr lang="en-US" dirty="0"/>
              <a:t>Improve delivery speed and partner with better logistics providers.</a:t>
            </a:r>
          </a:p>
          <a:p>
            <a:pPr marL="285750" indent="-285750">
              <a:buFont typeface="Wingdings" panose="05000000000000000000" pitchFamily="2" charset="2"/>
              <a:buChar char="§"/>
            </a:pPr>
            <a:r>
              <a:rPr lang="en-US" dirty="0"/>
              <a:t>Reduce shipping charges or give free shipping above a minimum order value.</a:t>
            </a:r>
          </a:p>
          <a:p>
            <a:pPr marL="285750" indent="-285750">
              <a:buFont typeface="Wingdings" panose="05000000000000000000" pitchFamily="2" charset="2"/>
              <a:buChar char="§"/>
            </a:pPr>
            <a:r>
              <a:rPr lang="en-US" dirty="0"/>
              <a:t>Provide offers or discounts to bring churned customers back.</a:t>
            </a:r>
          </a:p>
          <a:p>
            <a:pPr marL="285750" indent="-285750">
              <a:buFont typeface="Wingdings" panose="05000000000000000000" pitchFamily="2" charset="2"/>
              <a:buChar char="§"/>
            </a:pPr>
            <a:r>
              <a:rPr lang="en-US" dirty="0"/>
              <a:t>Pause marketing in regions with extremely slow delivery to avoid wasting money.</a:t>
            </a:r>
            <a:endParaRPr lang="en-IN" dirty="0"/>
          </a:p>
        </p:txBody>
      </p:sp>
      <p:sp>
        <p:nvSpPr>
          <p:cNvPr id="4" name="TextBox 3">
            <a:extLst>
              <a:ext uri="{FF2B5EF4-FFF2-40B4-BE49-F238E27FC236}">
                <a16:creationId xmlns:a16="http://schemas.microsoft.com/office/drawing/2014/main" id="{0060F48B-4F48-0EF6-DEDF-543053C0B10E}"/>
              </a:ext>
            </a:extLst>
          </p:cNvPr>
          <p:cNvSpPr txBox="1"/>
          <p:nvPr/>
        </p:nvSpPr>
        <p:spPr>
          <a:xfrm>
            <a:off x="654343" y="1241571"/>
            <a:ext cx="7558480" cy="923330"/>
          </a:xfrm>
          <a:prstGeom prst="rect">
            <a:avLst/>
          </a:prstGeom>
          <a:noFill/>
        </p:spPr>
        <p:txBody>
          <a:bodyPr wrap="square" rtlCol="0">
            <a:spAutoFit/>
          </a:bodyPr>
          <a:lstStyle/>
          <a:p>
            <a:pPr marL="285750" indent="-285750">
              <a:buFont typeface="Wingdings" panose="05000000000000000000" pitchFamily="2" charset="2"/>
              <a:buChar char="§"/>
            </a:pPr>
            <a:r>
              <a:rPr lang="en-US" dirty="0"/>
              <a:t>My analysis shows that </a:t>
            </a:r>
            <a:r>
              <a:rPr lang="en-US" b="1" dirty="0"/>
              <a:t>customer churn is mainly driven by delivery problems and high freight costs</a:t>
            </a:r>
            <a:r>
              <a:rPr lang="en-US" dirty="0"/>
              <a:t>. Only </a:t>
            </a:r>
            <a:r>
              <a:rPr lang="en-US" b="1" dirty="0"/>
              <a:t>29% of customers return</a:t>
            </a:r>
            <a:r>
              <a:rPr lang="en-US" dirty="0"/>
              <a:t>, while </a:t>
            </a:r>
            <a:r>
              <a:rPr lang="en-US" b="1" dirty="0"/>
              <a:t>71% churn</a:t>
            </a:r>
            <a:r>
              <a:rPr lang="en-US" dirty="0"/>
              <a:t>, meaning most customers are not satisfied with the service.</a:t>
            </a:r>
            <a:endParaRPr lang="en-IN" dirty="0"/>
          </a:p>
        </p:txBody>
      </p:sp>
      <p:sp>
        <p:nvSpPr>
          <p:cNvPr id="6" name="Rectangle 5">
            <a:extLst>
              <a:ext uri="{FF2B5EF4-FFF2-40B4-BE49-F238E27FC236}">
                <a16:creationId xmlns:a16="http://schemas.microsoft.com/office/drawing/2014/main" id="{F26F9948-7831-EB02-1651-AD597932D33B}"/>
              </a:ext>
            </a:extLst>
          </p:cNvPr>
          <p:cNvSpPr/>
          <p:nvPr/>
        </p:nvSpPr>
        <p:spPr>
          <a:xfrm>
            <a:off x="268448" y="226503"/>
            <a:ext cx="8607104" cy="6434356"/>
          </a:xfrm>
          <a:prstGeom prst="rect">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25B8306-92D6-2DC6-590A-482F125AE039}"/>
              </a:ext>
            </a:extLst>
          </p:cNvPr>
          <p:cNvSpPr txBox="1"/>
          <p:nvPr/>
        </p:nvSpPr>
        <p:spPr>
          <a:xfrm>
            <a:off x="763398" y="2315361"/>
            <a:ext cx="3229762" cy="369332"/>
          </a:xfrm>
          <a:prstGeom prst="rect">
            <a:avLst/>
          </a:prstGeom>
          <a:noFill/>
        </p:spPr>
        <p:txBody>
          <a:bodyPr wrap="square" rtlCol="0">
            <a:spAutoFit/>
          </a:bodyPr>
          <a:lstStyle/>
          <a:p>
            <a:r>
              <a:rPr lang="en-IN" b="1" dirty="0"/>
              <a:t>Recommendation:</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30C6D-69D8-BD73-FC27-B56D4799CBB9}"/>
              </a:ext>
            </a:extLst>
          </p:cNvPr>
          <p:cNvSpPr>
            <a:spLocks noGrp="1"/>
          </p:cNvSpPr>
          <p:nvPr>
            <p:ph type="title"/>
          </p:nvPr>
        </p:nvSpPr>
        <p:spPr>
          <a:xfrm>
            <a:off x="364921" y="2573222"/>
            <a:ext cx="8229600" cy="1143000"/>
          </a:xfrm>
        </p:spPr>
        <p:txBody>
          <a:bodyPr>
            <a:normAutofit/>
          </a:bodyPr>
          <a:lstStyle/>
          <a:p>
            <a:r>
              <a:rPr lang="en-US" sz="6600" b="1" dirty="0"/>
              <a:t>Thank you!</a:t>
            </a:r>
            <a:endParaRPr lang="en-IN" sz="6600" b="1" dirty="0"/>
          </a:p>
        </p:txBody>
      </p:sp>
      <p:sp>
        <p:nvSpPr>
          <p:cNvPr id="3" name="Rectangle 2">
            <a:extLst>
              <a:ext uri="{FF2B5EF4-FFF2-40B4-BE49-F238E27FC236}">
                <a16:creationId xmlns:a16="http://schemas.microsoft.com/office/drawing/2014/main" id="{8209BCA2-C471-6E4F-55DD-E74887E32964}"/>
              </a:ext>
            </a:extLst>
          </p:cNvPr>
          <p:cNvSpPr/>
          <p:nvPr/>
        </p:nvSpPr>
        <p:spPr>
          <a:xfrm>
            <a:off x="260059" y="260059"/>
            <a:ext cx="8649049" cy="6333688"/>
          </a:xfrm>
          <a:prstGeom prst="rect">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52843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472</TotalTime>
  <Words>591</Words>
  <Application>Microsoft Office PowerPoint</Application>
  <PresentationFormat>On-screen Show (4:3)</PresentationFormat>
  <Paragraphs>34</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Wingdings</vt:lpstr>
      <vt:lpstr>Office Theme</vt:lpstr>
      <vt:lpstr>Customer Churn Analysis</vt:lpstr>
      <vt:lpstr>Dataset Overview &amp; Key Observations</vt:lpstr>
      <vt:lpstr>Monthly Sales Trend (Revenue)</vt:lpstr>
      <vt:lpstr>On-Time vs. Late Deliveries</vt:lpstr>
      <vt:lpstr>Top 10 Product Categories by Revenue</vt:lpstr>
      <vt:lpstr>Impact of Delivery Delays on Customer Churn</vt:lpstr>
      <vt:lpstr>Freight Cost Sensitivity: Churned vs Retained</vt:lpstr>
      <vt:lpstr>Churn Rate vs Delivery Delay by State</vt:lpstr>
      <vt:lpstr>Distribution of Churned vs. Retained Customers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Srikant kumar</dc:creator>
  <cp:keywords/>
  <dc:description>generated using python-pptx</dc:description>
  <cp:lastModifiedBy>Srikant kumar</cp:lastModifiedBy>
  <cp:revision>8</cp:revision>
  <dcterms:created xsi:type="dcterms:W3CDTF">2013-01-27T09:14:16Z</dcterms:created>
  <dcterms:modified xsi:type="dcterms:W3CDTF">2025-12-15T10:54:08Z</dcterms:modified>
  <cp:category/>
</cp:coreProperties>
</file>